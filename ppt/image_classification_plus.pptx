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7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775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334000"/>
            <a:ext cx="345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image" Target="../media/image14.png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13.png"/><Relationship Id="rId2" Type="http://schemas.openxmlformats.org/officeDocument/2006/relationships/tags" Target="../tags/tag12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image" Target="../media/image15.png"/><Relationship Id="rId10" Type="http://schemas.openxmlformats.org/officeDocument/2006/relationships/tags" Target="../tags/tag18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image" Target="../media/image17.png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image" Target="../media/image16.png"/><Relationship Id="rId2" Type="http://schemas.openxmlformats.org/officeDocument/2006/relationships/tags" Target="../tags/tag23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image" Target="../media/image18.png"/><Relationship Id="rId10" Type="http://schemas.openxmlformats.org/officeDocument/2006/relationships/tags" Target="../tags/tag29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91615" y="1865630"/>
            <a:ext cx="9176385" cy="1004570"/>
          </a:xfrm>
        </p:spPr>
        <p:txBody>
          <a:bodyPr>
            <a:normAutofit/>
          </a:bodyPr>
          <a:p>
            <a:r>
              <a:rPr lang="en-US" altLang="zh-CN"/>
              <a:t>image Classification P</a:t>
            </a:r>
            <a:r>
              <a:rPr lang="en-US" altLang="zh-CN"/>
              <a:t>lus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68145" y="3093403"/>
            <a:ext cx="9144000" cy="1655762"/>
          </a:xfrm>
        </p:spPr>
        <p:txBody>
          <a:bodyPr/>
          <a:p>
            <a:r>
              <a:rPr lang="en-US" altLang="zh-CN"/>
              <a:t>Logistic Regression</a:t>
            </a:r>
            <a:r>
              <a:rPr lang="zh-CN" altLang="en-US"/>
              <a:t>，</a:t>
            </a:r>
            <a:r>
              <a:rPr lang="en-US" altLang="zh-CN"/>
              <a:t>Random Forest</a:t>
            </a:r>
            <a:r>
              <a:rPr lang="zh-CN" altLang="en-US"/>
              <a:t>，</a:t>
            </a:r>
            <a:r>
              <a:rPr lang="en-US" altLang="zh-CN"/>
              <a:t>XGBoost</a:t>
            </a:r>
            <a:r>
              <a:rPr lang="zh-CN" altLang="en-US"/>
              <a:t>，</a:t>
            </a:r>
            <a:r>
              <a:rPr lang="en-US" altLang="zh-CN"/>
              <a:t>SVM</a:t>
            </a:r>
            <a:r>
              <a:rPr lang="zh-CN" altLang="en-US"/>
              <a:t>，</a:t>
            </a:r>
            <a:r>
              <a:rPr lang="en-US" altLang="zh-CN"/>
              <a:t>MIL</a:t>
            </a:r>
            <a:r>
              <a:rPr lang="zh-CN" altLang="en-US"/>
              <a:t>，</a:t>
            </a:r>
            <a:r>
              <a:rPr lang="en-US" altLang="zh-CN"/>
              <a:t>MLP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8435340" y="4765675"/>
            <a:ext cx="2376805" cy="1426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/>
              <a:t> </a:t>
            </a:r>
            <a:r>
              <a:rPr lang="en-US" altLang="zh-CN" sz="2000" b="1" i="1"/>
              <a:t>Supervisor: Liu Bo</a:t>
            </a:r>
            <a:endParaRPr lang="en-US" altLang="zh-CN" i="1"/>
          </a:p>
          <a:p>
            <a:endParaRPr lang="en-US" altLang="zh-CN" i="1"/>
          </a:p>
          <a:p>
            <a:r>
              <a:rPr lang="en-US" altLang="zh-CN" i="1"/>
              <a:t> </a:t>
            </a:r>
            <a:endParaRPr lang="en-US" altLang="zh-CN" i="1"/>
          </a:p>
          <a:p>
            <a:r>
              <a:rPr lang="en-US" altLang="zh-CN" i="1"/>
              <a:t> </a:t>
            </a:r>
            <a:r>
              <a:rPr lang="en-US" altLang="zh-CN" sz="2000" b="1" i="1"/>
              <a:t>Date: 2025-10-09 </a:t>
            </a:r>
            <a:endParaRPr lang="en-US" altLang="zh-CN" sz="2000" b="1" i="1"/>
          </a:p>
        </p:txBody>
      </p:sp>
      <p:sp>
        <p:nvSpPr>
          <p:cNvPr id="5" name="文本框 4"/>
          <p:cNvSpPr txBox="1"/>
          <p:nvPr/>
        </p:nvSpPr>
        <p:spPr>
          <a:xfrm>
            <a:off x="1491615" y="4559935"/>
            <a:ext cx="4064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Student: Nianqi Di 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Jiayi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Yiwen Zhang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Junheng Cui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>
                <a:latin typeface="Arial" panose="020B0604020202020204" pitchFamily="34" charset="0"/>
                <a:cs typeface="Arial" panose="020B0604020202020204" pitchFamily="34" charset="0"/>
              </a:rPr>
              <a:t>                Xuayng Gou</a:t>
            </a:r>
            <a:endParaRPr lang="en-US" altLang="zh-CN" sz="2000" b="1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b="1" i="1"/>
              <a:t>   </a:t>
            </a:r>
            <a:endParaRPr lang="en-US" altLang="zh-CN" sz="2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760" y="263525"/>
            <a:ext cx="10515600" cy="1041400"/>
          </a:xfrm>
        </p:spPr>
        <p:txBody>
          <a:bodyPr/>
          <a:p>
            <a:r>
              <a:rPr lang="en-US" altLang="zh-CN">
                <a:sym typeface="+mn-ea"/>
              </a:rPr>
              <a:t>Logistic Regression_plus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410710"/>
            <a:ext cx="7938135" cy="2427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2423"/>
          <a:stretch>
            <a:fillRect/>
          </a:stretch>
        </p:blipFill>
        <p:spPr>
          <a:xfrm>
            <a:off x="0" y="1391920"/>
            <a:ext cx="7303135" cy="2962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770" y="1642110"/>
            <a:ext cx="4888230" cy="4161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1035" y="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Random Forest_plus</a:t>
            </a:r>
            <a:endParaRPr lang="zh-CN" altLang="en-US"/>
          </a:p>
        </p:txBody>
      </p:sp>
      <p:pic>
        <p:nvPicPr>
          <p:cNvPr id="3" name="图片 2" descr="final_test_confusion_matri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50" y="1175385"/>
            <a:ext cx="5281295" cy="4700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r="51705"/>
          <a:stretch>
            <a:fillRect/>
          </a:stretch>
        </p:blipFill>
        <p:spPr>
          <a:xfrm>
            <a:off x="98425" y="1022985"/>
            <a:ext cx="5229225" cy="25888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8420"/>
            <a:ext cx="6946900" cy="2526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60325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XGBoost_plus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585" y="1274445"/>
            <a:ext cx="6191885" cy="22866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" y="3967480"/>
            <a:ext cx="7842250" cy="21113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l="1680"/>
          <a:stretch>
            <a:fillRect/>
          </a:stretch>
        </p:blipFill>
        <p:spPr>
          <a:xfrm>
            <a:off x="6728460" y="233680"/>
            <a:ext cx="5463540" cy="4651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600" y="131445"/>
            <a:ext cx="10515600" cy="746760"/>
          </a:xfrm>
        </p:spPr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SVM_plus</a:t>
            </a:r>
            <a:endParaRPr lang="en-US" altLang="zh-CN"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320" y="3656965"/>
            <a:ext cx="7374255" cy="30721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728980"/>
            <a:ext cx="5564505" cy="2927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130" y="131445"/>
            <a:ext cx="5436870" cy="4725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MIL</a:t>
            </a:r>
            <a:endParaRPr lang="en-US" altLang="zh-CN"/>
          </a:p>
        </p:txBody>
      </p:sp>
      <p:pic>
        <p:nvPicPr>
          <p:cNvPr id="14" name="内容占位符 13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1492250"/>
            <a:ext cx="3454400" cy="251079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609600" y="4526280"/>
            <a:ext cx="3454400" cy="406400"/>
          </a:xfrm>
        </p:spPr>
        <p:txBody>
          <a:bodyPr/>
          <a:p>
            <a:r>
              <a:rPr lang="en-US" altLang="zh-CN"/>
              <a:t>attention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5085080"/>
            <a:ext cx="3454400" cy="914400"/>
          </a:xfrm>
        </p:spPr>
        <p:txBody>
          <a:bodyPr/>
          <a:p>
            <a:r>
              <a:rPr lang="en-US" altLang="zh-CN"/>
              <a:t>Test F1-score: 0.5910</a:t>
            </a:r>
            <a:endParaRPr lang="en-US" altLang="zh-CN"/>
          </a:p>
          <a:p>
            <a:r>
              <a:rPr lang="en-US" altLang="zh-CN"/>
              <a:t>Test Accuracy: 0.6383</a:t>
            </a:r>
            <a:endParaRPr lang="en-US" altLang="zh-CN"/>
          </a:p>
          <a:p>
            <a:r>
              <a:rPr lang="en-US" altLang="zh-CN"/>
              <a:t>Test Macro-F1: 0.5055</a:t>
            </a:r>
            <a:endParaRPr lang="en-US" altLang="zh-CN"/>
          </a:p>
        </p:txBody>
      </p:sp>
      <p:pic>
        <p:nvPicPr>
          <p:cNvPr id="13" name="内容占位符 12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8800" y="1461770"/>
            <a:ext cx="3454400" cy="257238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4368800" y="4526280"/>
            <a:ext cx="3454400" cy="406400"/>
          </a:xfrm>
        </p:spPr>
        <p:txBody>
          <a:bodyPr/>
          <a:p>
            <a:r>
              <a:rPr lang="en-US" altLang="zh-CN"/>
              <a:t>dsmil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4368800" y="5085080"/>
            <a:ext cx="3454400" cy="914400"/>
          </a:xfrm>
        </p:spPr>
        <p:txBody>
          <a:bodyPr/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0.5857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</a:t>
            </a:r>
            <a:r>
              <a:rPr lang="en-US" altLang="zh-CN"/>
              <a:t>0.6296</a:t>
            </a:r>
            <a:endParaRPr lang="en-US" altLang="zh-CN"/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0.4997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15" name="内容占位符 14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28000" y="1503680"/>
            <a:ext cx="3454400" cy="2488565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>
          <a:xfrm>
            <a:off x="8128000" y="4526280"/>
            <a:ext cx="3454400" cy="406400"/>
          </a:xfrm>
        </p:spPr>
        <p:txBody>
          <a:bodyPr/>
          <a:p>
            <a:r>
              <a:rPr lang="en-US" altLang="zh-CN"/>
              <a:t>transmil </a:t>
            </a:r>
            <a:r>
              <a:rPr lang="en-US" altLang="zh-CN">
                <a:sym typeface="+mn-ea"/>
              </a:rPr>
              <a:t>MIL </a:t>
            </a:r>
            <a:endParaRPr lang="en-US" altLang="zh-CN">
              <a:sym typeface="+mn-ea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>
          <a:xfrm>
            <a:off x="8128000" y="5085080"/>
            <a:ext cx="3454400" cy="914400"/>
          </a:xfrm>
        </p:spPr>
        <p:txBody>
          <a:bodyPr/>
          <a:p>
            <a:r>
              <a:rPr lang="en-US" altLang="zh-CN">
                <a:sym typeface="+mn-ea"/>
              </a:rPr>
              <a:t>Test F1-score: 0.5502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0.6057</a:t>
            </a:r>
            <a:endParaRPr lang="en-US" altLang="zh-CN"/>
          </a:p>
          <a:p>
            <a:r>
              <a:rPr lang="en-US" altLang="zh-CN">
                <a:sym typeface="+mn-ea"/>
              </a:rPr>
              <a:t>Test Macro-F1: 0.4619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/>
              <a:t>MLP</a:t>
            </a:r>
            <a:endParaRPr lang="en-US" altLang="zh-CN"/>
          </a:p>
        </p:txBody>
      </p:sp>
      <p:pic>
        <p:nvPicPr>
          <p:cNvPr id="12" name="内容占位符 11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9600" y="1504950"/>
            <a:ext cx="3454400" cy="250317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6096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MLP(MAX)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6096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0.5830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0.6187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0.5336</a:t>
            </a:r>
            <a:endParaRPr lang="en-US" altLang="zh-CN"/>
          </a:p>
        </p:txBody>
      </p:sp>
      <p:pic>
        <p:nvPicPr>
          <p:cNvPr id="13" name="内容占位符 12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68800" y="1467485"/>
            <a:ext cx="3454400" cy="2578735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43688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MLP(MEAN)</a:t>
            </a:r>
            <a:endParaRPr lang="en-US" altLang="zh-CN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43688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0.5945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0.5991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/>
              <a:t>0.5515</a:t>
            </a:r>
            <a:endParaRPr lang="en-US" altLang="zh-CN"/>
          </a:p>
        </p:txBody>
      </p:sp>
      <p:pic>
        <p:nvPicPr>
          <p:cNvPr id="14" name="内容占位符 13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128000" y="1452880"/>
            <a:ext cx="3454400" cy="260731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>
          <a:xfrm>
            <a:off x="8128000" y="4535170"/>
            <a:ext cx="3454400" cy="406400"/>
          </a:xfrm>
        </p:spPr>
        <p:txBody>
          <a:bodyPr>
            <a:noAutofit/>
          </a:bodyPr>
          <a:p>
            <a:r>
              <a:rPr lang="en-US" altLang="zh-CN"/>
              <a:t>MLP(MEAN_MAX)</a:t>
            </a:r>
            <a:endParaRPr lang="en-US" altLang="zh-CN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>
          <a:xfrm>
            <a:off x="8128000" y="5093970"/>
            <a:ext cx="3454400" cy="914400"/>
          </a:xfrm>
        </p:spPr>
        <p:txBody>
          <a:bodyPr>
            <a:noAutofit/>
          </a:bodyPr>
          <a:p>
            <a:r>
              <a:rPr lang="en-US" altLang="zh-CN">
                <a:sym typeface="+mn-ea"/>
              </a:rPr>
              <a:t>Test F1-score: </a:t>
            </a:r>
            <a:r>
              <a:rPr lang="en-US" altLang="zh-CN"/>
              <a:t>0.5924</a:t>
            </a:r>
            <a:endParaRPr lang="en-US" altLang="zh-CN"/>
          </a:p>
          <a:p>
            <a:r>
              <a:rPr lang="en-US" altLang="zh-CN">
                <a:sym typeface="+mn-ea"/>
              </a:rPr>
              <a:t>Test Accuracy: </a:t>
            </a:r>
            <a:r>
              <a:rPr lang="en-US" altLang="zh-CN">
                <a:sym typeface="+mn-ea"/>
              </a:rPr>
              <a:t>0.6209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Test Macro-F1: </a:t>
            </a:r>
            <a:r>
              <a:rPr lang="en-US" altLang="zh-CN">
                <a:sym typeface="+mn-ea"/>
              </a:rPr>
              <a:t>0.5336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d698ba37fdb9def5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171b13e585248f808c981508bb2a3717542df3d"/>
  <p:tag name="KSO_WM_NEWLAYOUT_ID" val="92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</Words>
  <Application>WPS 演示</Application>
  <PresentationFormat>宽屏</PresentationFormat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image Classification</vt:lpstr>
      <vt:lpstr>Logistic Regression_plus</vt:lpstr>
      <vt:lpstr>Random Forest_plus</vt:lpstr>
      <vt:lpstr>XGBoost_plus</vt:lpstr>
      <vt:lpstr>SVM_plus</vt:lpstr>
      <vt:lpstr>MIL</vt:lpstr>
      <vt:lpstr>MLP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只道寻常</cp:lastModifiedBy>
  <cp:revision>20</cp:revision>
  <dcterms:created xsi:type="dcterms:W3CDTF">2023-08-09T12:44:00Z</dcterms:created>
  <dcterms:modified xsi:type="dcterms:W3CDTF">2025-10-12T06:25:01Z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4292569F941443AFB3E0F614B84CBFED_13</vt:lpwstr>
  </property>
</Properties>
</file>