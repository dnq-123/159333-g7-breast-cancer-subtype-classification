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3"/>
    <p:sldId id="257" r:id="rId4"/>
    <p:sldId id="271" r:id="rId6"/>
    <p:sldId id="265" r:id="rId7"/>
    <p:sldId id="266" r:id="rId8"/>
    <p:sldId id="269" r:id="rId9"/>
    <p:sldId id="267" r:id="rId10"/>
    <p:sldId id="270" r:id="rId11"/>
    <p:sldId id="263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62771" autoAdjust="0"/>
  </p:normalViewPr>
  <p:slideViewPr>
    <p:cSldViewPr snapToGrid="0">
      <p:cViewPr varScale="1">
        <p:scale>
          <a:sx n="60" d="100"/>
          <a:sy n="60" d="100"/>
        </p:scale>
        <p:origin x="1948" y="4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F58FEB-3594-4DEE-8154-323CBB8F689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9616A3-8A24-4701-B3A6-EBE4FD536DC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9616A3-8A24-4701-B3A6-EBE4FD536D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9616A3-8A24-4701-B3A6-EBE4FD536D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9616A3-8A24-4701-B3A6-EBE4FD536D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9616A3-8A24-4701-B3A6-EBE4FD536D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9616A3-8A24-4701-B3A6-EBE4FD536D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9616A3-8A24-4701-B3A6-EBE4FD536D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9616A3-8A24-4701-B3A6-EBE4FD536D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9616A3-8A24-4701-B3A6-EBE4FD536D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668145" y="2037398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altLang="zh-CN" b="1" dirty="0"/>
              <a:t>Breast Cancer Subtype Classification Based On Gene Expression</a:t>
            </a:r>
            <a:r>
              <a:rPr lang="en-US" altLang="zh-CN" dirty="0"/>
              <a:t> </a:t>
            </a:r>
            <a:br>
              <a:rPr lang="en-US" altLang="zh-CN" dirty="0"/>
            </a:br>
            <a:r>
              <a:rPr lang="en-US" altLang="zh-CN" dirty="0"/>
              <a:t>– Weekly Progress</a:t>
            </a:r>
            <a:endParaRPr lang="en-US" altLang="zh-CN" dirty="0"/>
          </a:p>
        </p:txBody>
      </p:sp>
      <p:sp>
        <p:nvSpPr>
          <p:cNvPr id="4" name="文本框 3"/>
          <p:cNvSpPr txBox="1"/>
          <p:nvPr/>
        </p:nvSpPr>
        <p:spPr>
          <a:xfrm>
            <a:off x="8435340" y="4765675"/>
            <a:ext cx="2376805" cy="6146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000" b="1"/>
              <a:t> </a:t>
            </a:r>
            <a:r>
              <a:rPr lang="en-US" altLang="zh-CN" sz="2000" b="1" i="1"/>
              <a:t>Supervisor: Liu Bo</a:t>
            </a:r>
            <a:endParaRPr lang="en-US" altLang="zh-CN" i="1"/>
          </a:p>
          <a:p>
            <a:endParaRPr lang="en-US" altLang="zh-CN" i="1"/>
          </a:p>
          <a:p>
            <a:r>
              <a:rPr lang="en-US" altLang="zh-CN" i="1"/>
              <a:t> </a:t>
            </a:r>
            <a:endParaRPr lang="en-US" altLang="zh-CN" i="1"/>
          </a:p>
          <a:p>
            <a:r>
              <a:rPr lang="en-US" altLang="zh-CN" i="1"/>
              <a:t> </a:t>
            </a:r>
            <a:r>
              <a:rPr lang="en-US" altLang="zh-CN" sz="2000" b="1" i="1"/>
              <a:t>Date: 2025-08-07 </a:t>
            </a:r>
            <a:endParaRPr lang="en-US" altLang="zh-CN" sz="2000" b="1" i="1"/>
          </a:p>
        </p:txBody>
      </p:sp>
      <p:sp>
        <p:nvSpPr>
          <p:cNvPr id="5" name="文本框 4"/>
          <p:cNvSpPr txBox="1"/>
          <p:nvPr/>
        </p:nvSpPr>
        <p:spPr>
          <a:xfrm>
            <a:off x="1491615" y="4559935"/>
            <a:ext cx="406400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 i="1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Student: Nianqi Di </a:t>
            </a:r>
            <a:endParaRPr lang="en-US" altLang="zh-CN" sz="2000" b="1" i="1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r>
              <a:rPr lang="en-US" altLang="zh-CN" sz="2000" b="1" i="1">
                <a:latin typeface="Arial" panose="020B0604020202020204" pitchFamily="34" charset="0"/>
                <a:cs typeface="Arial" panose="020B0604020202020204" pitchFamily="34" charset="0"/>
              </a:rPr>
              <a:t>                Jiayi Zhang</a:t>
            </a:r>
            <a:endParaRPr lang="en-US" altLang="zh-CN" sz="2000" b="1" i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2000" b="1" i="1">
                <a:latin typeface="Arial" panose="020B0604020202020204" pitchFamily="34" charset="0"/>
                <a:cs typeface="Arial" panose="020B0604020202020204" pitchFamily="34" charset="0"/>
              </a:rPr>
              <a:t>                Yiwen Zhang</a:t>
            </a:r>
            <a:endParaRPr lang="en-US" altLang="zh-CN" sz="2000" b="1" i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2000" b="1" i="1">
                <a:latin typeface="Arial" panose="020B0604020202020204" pitchFamily="34" charset="0"/>
                <a:cs typeface="Arial" panose="020B0604020202020204" pitchFamily="34" charset="0"/>
              </a:rPr>
              <a:t>                Junheng Cui</a:t>
            </a:r>
            <a:endParaRPr lang="en-US" altLang="zh-CN" sz="2000" b="1" i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2000" b="1" i="1">
                <a:latin typeface="Arial" panose="020B0604020202020204" pitchFamily="34" charset="0"/>
                <a:cs typeface="Arial" panose="020B0604020202020204" pitchFamily="34" charset="0"/>
              </a:rPr>
              <a:t>                Xuayng Gou</a:t>
            </a:r>
            <a:endParaRPr lang="en-US" altLang="zh-CN" sz="2000" b="1" i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2000" b="1" i="1"/>
              <a:t>   </a:t>
            </a:r>
            <a:endParaRPr lang="en-US" altLang="zh-CN" sz="2000" b="1" i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Weekly Overview 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024505"/>
          </a:xfrm>
        </p:spPr>
        <p:txBody>
          <a:bodyPr>
            <a:normAutofit/>
          </a:bodyPr>
          <a:lstStyle/>
          <a:p>
            <a:r>
              <a:rPr lang="en-US" altLang="zh-CN" b="1" dirty="0"/>
              <a:t>Finalize Random Forest pipeline (CV + visualization)</a:t>
            </a:r>
            <a:endParaRPr lang="en-US" altLang="zh-CN" b="1" dirty="0"/>
          </a:p>
          <a:p>
            <a:pPr marL="0" indent="0">
              <a:buNone/>
            </a:pPr>
            <a:endParaRPr lang="en-US" altLang="zh-CN" b="1" dirty="0"/>
          </a:p>
          <a:p>
            <a:r>
              <a:rPr lang="en-US" altLang="zh-CN" b="1" dirty="0"/>
              <a:t>Implement XGBoost for comparison</a:t>
            </a:r>
            <a:endParaRPr lang="en-US" altLang="zh-CN" b="1" dirty="0"/>
          </a:p>
          <a:p>
            <a:endParaRPr lang="en-US" altLang="zh-CN" b="1" dirty="0"/>
          </a:p>
          <a:p>
            <a:r>
              <a:rPr lang="en-US" altLang="zh-CN" b="1" dirty="0"/>
              <a:t>Deliver interpretable outputs (Top genes &amp; confusion matrix)</a:t>
            </a:r>
            <a:endParaRPr lang="en-US" altLang="zh-CN" b="1" dirty="0"/>
          </a:p>
          <a:p>
            <a:pPr marL="457200" lvl="1" indent="0">
              <a:buNone/>
            </a:pP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Data Overview 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024505"/>
          </a:xfrm>
        </p:spPr>
        <p:txBody>
          <a:bodyPr>
            <a:normAutofit lnSpcReduction="10000"/>
          </a:bodyPr>
          <a:lstStyle/>
          <a:p>
            <a:r>
              <a:rPr lang="en-US" altLang="zh-CN" b="1" dirty="0"/>
              <a:t>Training set: 848  samples × 4224 genes</a:t>
            </a:r>
            <a:endParaRPr lang="en-US" altLang="zh-CN" b="1" dirty="0"/>
          </a:p>
          <a:p>
            <a:endParaRPr lang="en-US" altLang="zh-CN" b="1" dirty="0"/>
          </a:p>
          <a:p>
            <a:r>
              <a:rPr lang="en-US" altLang="zh-CN" b="1" dirty="0"/>
              <a:t>Test set: 214 samples (independent)</a:t>
            </a:r>
            <a:endParaRPr lang="en-US" altLang="zh-CN" b="1" dirty="0"/>
          </a:p>
          <a:p>
            <a:endParaRPr lang="en-US" altLang="zh-CN" b="1" dirty="0"/>
          </a:p>
          <a:p>
            <a:r>
              <a:rPr lang="en-US" altLang="zh-CN" b="1" dirty="0"/>
              <a:t>Class distribution  </a:t>
            </a:r>
            <a:endParaRPr lang="en-US" altLang="zh-CN" b="1" dirty="0"/>
          </a:p>
          <a:p>
            <a:pPr marL="0" indent="0">
              <a:buNone/>
            </a:pPr>
            <a:r>
              <a:rPr lang="en-US" altLang="zh-CN" b="1" dirty="0"/>
              <a:t>   </a:t>
            </a:r>
            <a:r>
              <a:rPr lang="en-US" altLang="zh-CN" sz="2400" dirty="0"/>
              <a:t>Basal-like 37    HER2-enriched 16 Luminal A 98 Luminal B 40 Normal 23</a:t>
            </a:r>
            <a:endParaRPr lang="en-US" altLang="zh-CN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15010" y="2020570"/>
            <a:ext cx="10515600" cy="3230245"/>
          </a:xfrm>
        </p:spPr>
        <p:txBody>
          <a:bodyPr>
            <a:normAutofit lnSpcReduction="20000"/>
          </a:bodyPr>
          <a:lstStyle/>
          <a:p>
            <a:pPr lvl="1"/>
            <a:r>
              <a:rPr lang="en-US" altLang="zh-CN" sz="2800" b="1" dirty="0"/>
              <a:t>5-fold stratified CV</a:t>
            </a:r>
            <a:endParaRPr lang="en-US" altLang="zh-CN" sz="2800" b="1" dirty="0"/>
          </a:p>
          <a:p>
            <a:pPr lvl="1"/>
            <a:endParaRPr lang="en-US" altLang="zh-CN" sz="2800" b="1" dirty="0"/>
          </a:p>
          <a:p>
            <a:pPr lvl="1"/>
            <a:r>
              <a:rPr lang="en-US" altLang="zh-CN" sz="2800" b="1" dirty="0"/>
              <a:t>Hyper-grid: </a:t>
            </a:r>
            <a:r>
              <a:rPr lang="en-US" altLang="zh-CN" sz="2400" dirty="0"/>
              <a:t>n_estimators / max_depth / min_samples_split</a:t>
            </a:r>
            <a:endParaRPr lang="en-US" altLang="zh-CN" sz="2800" b="1" dirty="0"/>
          </a:p>
          <a:p>
            <a:pPr lvl="1"/>
            <a:endParaRPr lang="en-US" altLang="zh-CN" sz="2800" b="1" dirty="0"/>
          </a:p>
          <a:p>
            <a:pPr lvl="1"/>
            <a:r>
              <a:rPr lang="en-US" altLang="zh-CN" sz="2800" b="1" dirty="0"/>
              <a:t>Handle imbalance: </a:t>
            </a:r>
            <a:r>
              <a:rPr lang="en-US" altLang="zh-CN" sz="2400" dirty="0"/>
              <a:t>class_weight='balanced'</a:t>
            </a:r>
            <a:endParaRPr lang="en-US" altLang="zh-CN" sz="2400" dirty="0"/>
          </a:p>
          <a:p>
            <a:pPr lvl="1"/>
            <a:endParaRPr lang="en-US" altLang="zh-CN" sz="2800" b="1" dirty="0"/>
          </a:p>
          <a:p>
            <a:pPr lvl="1"/>
            <a:r>
              <a:rPr lang="en-US" altLang="zh-CN" sz="2800" b="1" dirty="0"/>
              <a:t>Best params: </a:t>
            </a:r>
            <a:r>
              <a:rPr lang="en-US" altLang="zh-CN" sz="2400" dirty="0"/>
              <a:t>n_estimators=800, max_depth=30, min_samples_split=4</a:t>
            </a:r>
            <a:endParaRPr lang="en-US" altLang="zh-CN" sz="2400" dirty="0"/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b="1" dirty="0"/>
              <a:t>Random Forest Improvements</a:t>
            </a:r>
            <a:endParaRPr lang="en-US" altLang="zh-CN" b="1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6325" y="4789805"/>
            <a:ext cx="10039350" cy="1343025"/>
          </a:xfrm>
          <a:prstGeom prst="rect">
            <a:avLst/>
          </a:prstGeom>
          <a:ln w="12700">
            <a:solidFill>
              <a:schemeClr val="accent1"/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5836285" cy="4113530"/>
          </a:xfrm>
        </p:spPr>
        <p:txBody>
          <a:bodyPr>
            <a:normAutofit lnSpcReduction="10000"/>
          </a:bodyPr>
          <a:lstStyle/>
          <a:p>
            <a:r>
              <a:rPr lang="en-US" altLang="zh-CN" sz="3200" b="1" dirty="0"/>
              <a:t>Test accuracy: 92.5 %</a:t>
            </a:r>
            <a:endParaRPr lang="en-US" altLang="zh-CN" sz="3200" b="1" dirty="0"/>
          </a:p>
          <a:p>
            <a:pPr marL="0" indent="0">
              <a:buNone/>
            </a:pPr>
            <a:endParaRPr lang="en-US" altLang="zh-CN" sz="3200" b="1" dirty="0"/>
          </a:p>
          <a:p>
            <a:r>
              <a:rPr lang="en-US" altLang="zh-CN" sz="3200" b="1" dirty="0"/>
              <a:t> </a:t>
            </a:r>
            <a:r>
              <a:rPr lang="en-US" altLang="zh-CN" sz="3200" b="1" dirty="0">
                <a:sym typeface="+mn-ea"/>
              </a:rPr>
              <a:t>Overall F1-macro ≈ 0.92</a:t>
            </a:r>
            <a:endParaRPr lang="en-US" altLang="zh-CN" sz="3200" b="1" dirty="0"/>
          </a:p>
          <a:p>
            <a:pPr marL="0" indent="0">
              <a:buNone/>
            </a:pPr>
            <a:endParaRPr lang="en-US" altLang="zh-CN" sz="3200" b="1" dirty="0"/>
          </a:p>
          <a:p>
            <a:r>
              <a:rPr lang="en-US" altLang="zh-CN" sz="3200" b="1" dirty="0"/>
              <a:t>Key insight: HER2-enriched recall rises to 0.88</a:t>
            </a:r>
            <a:endParaRPr lang="en-US" altLang="zh-CN" sz="3200" b="1" dirty="0"/>
          </a:p>
          <a:p>
            <a:pPr marL="457200" lvl="1" indent="0">
              <a:buNone/>
            </a:pPr>
            <a:r>
              <a:rPr lang="en-US" altLang="zh-CN" sz="2800" b="1" dirty="0"/>
              <a:t> </a:t>
            </a:r>
            <a:endParaRPr lang="en-US" altLang="zh-CN" sz="2400" dirty="0"/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zh-CN" b="1" dirty="0"/>
              <a:t>Random Forest Results</a:t>
            </a:r>
            <a:endParaRPr lang="en-US" altLang="zh-CN" b="1" dirty="0"/>
          </a:p>
        </p:txBody>
      </p:sp>
      <p:pic>
        <p:nvPicPr>
          <p:cNvPr id="2" name="图片 1" descr="randomForest_w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1840" y="1463675"/>
            <a:ext cx="6255385" cy="429450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45995" y="135255"/>
            <a:ext cx="6129020" cy="1325880"/>
          </a:xfrm>
        </p:spPr>
        <p:txBody>
          <a:bodyPr>
            <a:normAutofit/>
          </a:bodyPr>
          <a:lstStyle/>
          <a:p>
            <a:r>
              <a:rPr lang="en-US" altLang="zh-CN" b="1" dirty="0"/>
              <a:t> </a:t>
            </a:r>
            <a:r>
              <a:rPr lang="en-US" altLang="zh-CN" b="1" dirty="0">
                <a:sym typeface="+mn-ea"/>
              </a:rPr>
              <a:t> Confusion matrix figure    </a:t>
            </a:r>
            <a:endParaRPr lang="en-US" altLang="zh-CN" dirty="0"/>
          </a:p>
        </p:txBody>
      </p:sp>
      <p:pic>
        <p:nvPicPr>
          <p:cNvPr id="4" name="图片 3" descr="F:/code/159333/Breast Cancer Subtype Classification/randomForest.pngrandomForest"/>
          <p:cNvPicPr>
            <a:picLocks noChangeAspect="1"/>
          </p:cNvPicPr>
          <p:nvPr/>
        </p:nvPicPr>
        <p:blipFill>
          <a:blip r:embed="rId1"/>
          <a:srcRect l="7724" t="2587" b="8857"/>
          <a:stretch>
            <a:fillRect/>
          </a:stretch>
        </p:blipFill>
        <p:spPr>
          <a:xfrm>
            <a:off x="2169795" y="1310640"/>
            <a:ext cx="6863715" cy="521081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7695" y="1391920"/>
            <a:ext cx="4919980" cy="4916805"/>
          </a:xfrm>
        </p:spPr>
        <p:txBody>
          <a:bodyPr>
            <a:normAutofit fontScale="90000" lnSpcReduction="10000"/>
          </a:bodyPr>
          <a:lstStyle/>
          <a:p>
            <a:pPr marL="0" indent="0">
              <a:buNone/>
            </a:pPr>
            <a:endParaRPr lang="en-US" altLang="zh-CN" sz="3200" b="1" dirty="0"/>
          </a:p>
          <a:p>
            <a:r>
              <a:rPr lang="en-US" altLang="zh-CN" sz="2800" b="1" dirty="0"/>
              <a:t>Same pipeline</a:t>
            </a:r>
            <a:endParaRPr lang="en-US" altLang="zh-CN" sz="2800" b="1" dirty="0"/>
          </a:p>
          <a:p>
            <a:endParaRPr lang="en-US" altLang="zh-CN" sz="2800" b="1" dirty="0"/>
          </a:p>
          <a:p>
            <a:r>
              <a:rPr lang="en-US" altLang="zh-CN" sz="2800" b="1" dirty="0"/>
              <a:t>3-fold CV (for speed)</a:t>
            </a:r>
            <a:endParaRPr lang="en-US" altLang="zh-CN" sz="2800" b="1" dirty="0"/>
          </a:p>
          <a:p>
            <a:endParaRPr lang="en-US" altLang="zh-CN" sz="2800" b="1" dirty="0"/>
          </a:p>
          <a:p>
            <a:r>
              <a:rPr lang="en-US" altLang="zh-CN" sz="2800" b="1" dirty="0"/>
              <a:t>Params: </a:t>
            </a:r>
            <a:r>
              <a:rPr lang="en-US" altLang="zh-CN" sz="2400" dirty="0"/>
              <a:t>n_estimators ∈ {150,300}, max_depth ∈ {None,6}, lr=0.1</a:t>
            </a:r>
            <a:endParaRPr lang="en-US" altLang="zh-CN" sz="2400" dirty="0"/>
          </a:p>
          <a:p>
            <a:endParaRPr lang="en-US" altLang="zh-CN" sz="2400" dirty="0"/>
          </a:p>
          <a:p>
            <a:pPr algn="l">
              <a:buClrTx/>
              <a:buSzTx/>
            </a:pPr>
            <a:r>
              <a:rPr lang="en-US" altLang="zh-CN" sz="2800" b="1" dirty="0"/>
              <a:t>Test accuracy: </a:t>
            </a:r>
            <a:r>
              <a:rPr lang="en-US" altLang="zh-CN" sz="2400" dirty="0"/>
              <a:t>92.1 % </a:t>
            </a:r>
            <a:endParaRPr lang="en-US" altLang="zh-CN" sz="2400" dirty="0"/>
          </a:p>
          <a:p>
            <a:pPr algn="l">
              <a:buClrTx/>
              <a:buSzTx/>
            </a:pPr>
            <a:endParaRPr lang="en-US" altLang="zh-CN" sz="2400" dirty="0"/>
          </a:p>
          <a:p>
            <a:r>
              <a:rPr lang="en-US" altLang="zh-CN" b="1" dirty="0">
                <a:sym typeface="+mn-ea"/>
              </a:rPr>
              <a:t>Overall F1-macro ≈ 0.92</a:t>
            </a:r>
            <a:endParaRPr lang="en-US" altLang="zh-CN" b="1" dirty="0">
              <a:sym typeface="+mn-ea"/>
            </a:endParaRPr>
          </a:p>
          <a:p>
            <a:pPr marL="0" indent="0">
              <a:buNone/>
            </a:pPr>
            <a:endParaRPr lang="en-US" altLang="zh-CN" b="1" dirty="0"/>
          </a:p>
          <a:p>
            <a:endParaRPr lang="en-US" altLang="zh-CN" sz="2800" b="1" dirty="0"/>
          </a:p>
          <a:p>
            <a:pPr marL="914400" lvl="2" indent="0">
              <a:buNone/>
            </a:pPr>
            <a:endParaRPr lang="en-US" altLang="zh-CN" sz="2400" dirty="0"/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zh-CN" b="1" dirty="0"/>
              <a:t>XGBoost Setup</a:t>
            </a:r>
            <a:endParaRPr lang="en-US" altLang="zh-CN" b="1" dirty="0"/>
          </a:p>
        </p:txBody>
      </p:sp>
      <p:pic>
        <p:nvPicPr>
          <p:cNvPr id="2" name="图片 1" descr="XGboost_W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52465" y="1270000"/>
            <a:ext cx="6352540" cy="454596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4980" y="5741670"/>
            <a:ext cx="7907020" cy="8915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437765" y="202565"/>
            <a:ext cx="6320790" cy="1325880"/>
          </a:xfrm>
        </p:spPr>
        <p:txBody>
          <a:bodyPr>
            <a:normAutofit/>
          </a:bodyPr>
          <a:lstStyle/>
          <a:p>
            <a:r>
              <a:rPr lang="en-US" altLang="zh-CN" b="1" dirty="0">
                <a:sym typeface="+mn-ea"/>
              </a:rPr>
              <a:t>Confusion matrix figure </a:t>
            </a:r>
            <a:endParaRPr lang="en-US" altLang="zh-CN" dirty="0"/>
          </a:p>
        </p:txBody>
      </p:sp>
      <p:pic>
        <p:nvPicPr>
          <p:cNvPr id="4" name="图片 3" descr="XGboos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2140" y="1100455"/>
            <a:ext cx="7263765" cy="544893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b="1" dirty="0"/>
              <a:t>Model Comparison</a:t>
            </a:r>
            <a:endParaRPr lang="en-US" altLang="zh-CN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b="1" dirty="0"/>
              <a:t> </a:t>
            </a:r>
            <a:r>
              <a:rPr lang="en-US" altLang="zh-CN" dirty="0"/>
              <a:t>.</a:t>
            </a:r>
            <a:endParaRPr lang="en-US" altLang="zh-CN" b="1" dirty="0"/>
          </a:p>
          <a:p>
            <a:endParaRPr lang="zh-CN" altLang="en-US" dirty="0"/>
          </a:p>
        </p:txBody>
      </p:sp>
      <p:graphicFrame>
        <p:nvGraphicFramePr>
          <p:cNvPr id="6" name="表格 5"/>
          <p:cNvGraphicFramePr/>
          <p:nvPr>
            <p:custDataLst>
              <p:tags r:id="rId1"/>
            </p:custDataLst>
          </p:nvPr>
        </p:nvGraphicFramePr>
        <p:xfrm>
          <a:off x="1828800" y="1962150"/>
          <a:ext cx="8532495" cy="34607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4165"/>
                <a:gridCol w="2844165"/>
                <a:gridCol w="2844165"/>
              </a:tblGrid>
              <a:tr h="69215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/>
                        <a:t>Metric</a:t>
                      </a:r>
                      <a:endParaRPr lang="en-US" altLang="zh-CN" sz="20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marL="0" algn="ctr">
                        <a:buClrTx/>
                        <a:buSzTx/>
                        <a:buFontTx/>
                      </a:pPr>
                      <a:r>
                        <a:rPr lang="en-US" altLang="zh-CN" sz="2000" i="0"/>
                        <a:t>RandomForest</a:t>
                      </a:r>
                      <a:endParaRPr lang="en-US" altLang="zh-CN" sz="2000" i="0"/>
                    </a:p>
                  </a:txBody>
                  <a:tcPr marL="91757" marR="91757" marT="61277" marB="61277" anchor="ctr" anchorCtr="0"/>
                </a:tc>
                <a:tc>
                  <a:txBody>
                    <a:bodyPr/>
                    <a:p>
                      <a:pPr marL="0" algn="ctr">
                        <a:buClrTx/>
                        <a:buSzTx/>
                        <a:buFontTx/>
                      </a:pPr>
                      <a:r>
                        <a:rPr lang="en-US" altLang="zh-CN" sz="2000" i="0"/>
                        <a:t>XGBoost</a:t>
                      </a:r>
                      <a:endParaRPr lang="en-US" altLang="zh-CN" sz="2000" i="0"/>
                    </a:p>
                  </a:txBody>
                  <a:tcPr marL="91757" marR="91757" marT="61277" marB="61277" anchor="ctr" anchorCtr="0"/>
                </a:tc>
              </a:tr>
              <a:tr h="69215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Test Acc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0.925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0.921</a:t>
                      </a:r>
                      <a:endParaRPr lang="en-US" altLang="zh-CN"/>
                    </a:p>
                  </a:txBody>
                  <a:tcPr anchor="ctr" anchorCtr="0"/>
                </a:tc>
              </a:tr>
              <a:tr h="69215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F1-macro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0.93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0.92</a:t>
                      </a:r>
                      <a:endParaRPr lang="en-US" altLang="zh-CN"/>
                    </a:p>
                  </a:txBody>
                  <a:tcPr anchor="ctr" anchorCtr="0"/>
                </a:tc>
              </a:tr>
              <a:tr h="69215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HER2 Recall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0.88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0.88</a:t>
                      </a:r>
                      <a:endParaRPr lang="en-US" altLang="zh-CN"/>
                    </a:p>
                  </a:txBody>
                  <a:tcPr anchor="ctr" anchorCtr="0"/>
                </a:tc>
              </a:tr>
              <a:tr h="692150">
                <a:tc gridSpan="3"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/>
                        <a:t>→</a:t>
                      </a:r>
                      <a:r>
                        <a:rPr lang="en-US" altLang="zh-CN"/>
                        <a:t> Difference &lt; 1 %, next step: ensemble.</a:t>
                      </a:r>
                      <a:endParaRPr lang="en-US" altLang="zh-CN"/>
                    </a:p>
                  </a:txBody>
                  <a:tcPr anchor="ctr" anchorCtr="0"/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671*272"/>
  <p:tag name="TABLE_ENDDRAG_RECT" val="144*154*671*272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1332</Words>
  <Application>WPS 演示</Application>
  <PresentationFormat>宽屏</PresentationFormat>
  <Paragraphs>105</Paragraphs>
  <Slides>9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7" baseType="lpstr">
      <vt:lpstr>Arial</vt:lpstr>
      <vt:lpstr>宋体</vt:lpstr>
      <vt:lpstr>Wingdings</vt:lpstr>
      <vt:lpstr>Calibri</vt:lpstr>
      <vt:lpstr>微软雅黑</vt:lpstr>
      <vt:lpstr>Arial Unicode MS</vt:lpstr>
      <vt:lpstr>等线</vt:lpstr>
      <vt:lpstr>WPS</vt:lpstr>
      <vt:lpstr>Breast Cancer Subtype Classification Based On Gene Expression  – Weekly Progress</vt:lpstr>
      <vt:lpstr>Weekly Overview </vt:lpstr>
      <vt:lpstr>Data Overview </vt:lpstr>
      <vt:lpstr>Random Forest Improvements</vt:lpstr>
      <vt:lpstr>Random Forest Results</vt:lpstr>
      <vt:lpstr>  Confusion matrix figure    </vt:lpstr>
      <vt:lpstr>XGBoost Setup</vt:lpstr>
      <vt:lpstr>Confusion matrix figure </vt:lpstr>
      <vt:lpstr>Model Comparison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Phenix梧烬</dc:creator>
  <cp:lastModifiedBy>只道寻常</cp:lastModifiedBy>
  <cp:revision>9</cp:revision>
  <dcterms:created xsi:type="dcterms:W3CDTF">2023-08-09T12:44:00Z</dcterms:created>
  <dcterms:modified xsi:type="dcterms:W3CDTF">2025-10-12T06:24:43Z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88C3A4952F2A4FEEA249958842595F90_13</vt:lpwstr>
  </property>
  <property fmtid="{D5CDD505-2E9C-101B-9397-08002B2CF9AE}" pid="3" name="KSOProductBuildVer">
    <vt:lpwstr>2052-12.1.0.22529</vt:lpwstr>
  </property>
</Properties>
</file>