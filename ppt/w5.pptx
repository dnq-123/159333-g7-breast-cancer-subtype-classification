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71" r:id="rId6"/>
    <p:sldId id="275" r:id="rId7"/>
    <p:sldId id="265" r:id="rId8"/>
    <p:sldId id="267" r:id="rId9"/>
    <p:sldId id="266" r:id="rId10"/>
    <p:sldId id="270" r:id="rId11"/>
    <p:sldId id="27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2771" autoAdjust="0"/>
  </p:normalViewPr>
  <p:slideViewPr>
    <p:cSldViewPr snapToGrid="0">
      <p:cViewPr varScale="1">
        <p:scale>
          <a:sx n="60" d="100"/>
          <a:sy n="60" d="100"/>
        </p:scale>
        <p:origin x="194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58FEB-3594-4DEE-8154-323CBB8F68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68145" y="203739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Breast Cancer Subtype Classification Based On Gene Expression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– Week5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435340" y="4765675"/>
            <a:ext cx="2376805" cy="614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/>
              <a:t> </a:t>
            </a:r>
            <a:r>
              <a:rPr lang="en-US" altLang="zh-CN" sz="2000" b="1" i="1"/>
              <a:t>Supervisor: Liu Bo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 i="1"/>
              <a:t> </a:t>
            </a:r>
            <a:endParaRPr lang="en-US" altLang="zh-CN" i="1"/>
          </a:p>
          <a:p>
            <a:r>
              <a:rPr lang="en-US" altLang="zh-CN" i="1"/>
              <a:t> </a:t>
            </a:r>
            <a:r>
              <a:rPr lang="en-US" altLang="zh-CN" sz="2000" b="1" i="1"/>
              <a:t>Date: 2025-08-14 </a:t>
            </a:r>
            <a:endParaRPr lang="en-US" altLang="zh-CN" sz="2000" b="1" i="1"/>
          </a:p>
        </p:txBody>
      </p:sp>
      <p:sp>
        <p:nvSpPr>
          <p:cNvPr id="5" name="文本框 4"/>
          <p:cNvSpPr txBox="1"/>
          <p:nvPr/>
        </p:nvSpPr>
        <p:spPr>
          <a:xfrm>
            <a:off x="1491615" y="4559935"/>
            <a:ext cx="4064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Student: Nianqi Di 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Jiayi Zhang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Yiwen Zhang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Junheng Cui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Xuayng Gou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/>
              <a:t>   </a:t>
            </a:r>
            <a:endParaRPr lang="en-US" altLang="zh-CN" sz="200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Weekly Overview 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25600"/>
            <a:ext cx="10515600" cy="4421505"/>
          </a:xfrm>
        </p:spPr>
        <p:txBody>
          <a:bodyPr>
            <a:normAutofit/>
          </a:bodyPr>
          <a:lstStyle/>
          <a:p>
            <a:r>
              <a:rPr lang="en-US" altLang="zh-CN" b="1" dirty="0"/>
              <a:t>automatically selected 20 key genes with mRMR;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tuned a Random Forest via RandomizedSearchCV;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used 5-fold stratified CV for robustness;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evaluated and visualized results on a fully independent test set of 214 samples. 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Data Overview 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24505"/>
          </a:xfrm>
        </p:spPr>
        <p:txBody>
          <a:bodyPr>
            <a:normAutofit lnSpcReduction="10000"/>
          </a:bodyPr>
          <a:lstStyle/>
          <a:p>
            <a:r>
              <a:rPr lang="en-US" altLang="zh-CN" b="1" dirty="0"/>
              <a:t>Training set: 848  samples × 4224 genes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Test set: 214 samples (independent)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Class distribution  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</a:t>
            </a:r>
            <a:r>
              <a:rPr lang="en-US" altLang="zh-CN" sz="2400" dirty="0"/>
              <a:t>Basal-like 37    HER2-enriched 16 Luminal A 98 Luminal B 40 Normal 23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Feature Selection</a:t>
            </a:r>
            <a:endParaRPr lang="en-US" altLang="zh-CN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24505"/>
          </a:xfrm>
        </p:spPr>
        <p:txBody>
          <a:bodyPr>
            <a:normAutofit/>
          </a:bodyPr>
          <a:lstStyle/>
          <a:p>
            <a:r>
              <a:rPr lang="en-US" altLang="zh-CN" b="1" dirty="0"/>
              <a:t>Algorithm: Max-Relevance Min-Redundancy (mRMR)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</a:t>
            </a: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895" y="3961130"/>
            <a:ext cx="8648700" cy="1348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95" y="2476500"/>
            <a:ext cx="4747260" cy="1272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5010" y="2020570"/>
            <a:ext cx="10515600" cy="4837430"/>
          </a:xfrm>
        </p:spPr>
        <p:txBody>
          <a:bodyPr>
            <a:normAutofit/>
          </a:bodyPr>
          <a:lstStyle/>
          <a:p>
            <a:pPr lvl="1"/>
            <a:r>
              <a:rPr lang="en-US" altLang="zh-CN" sz="2800" b="1" dirty="0"/>
              <a:t>5-fold stratified CV</a:t>
            </a:r>
            <a:endParaRPr lang="en-US" altLang="zh-CN" sz="2800" b="1" dirty="0"/>
          </a:p>
          <a:p>
            <a:pPr lvl="1"/>
            <a:r>
              <a:rPr lang="en-US" altLang="zh-CN" sz="2800" b="1" dirty="0"/>
              <a:t>Hyper-grid: </a:t>
            </a:r>
            <a:r>
              <a:rPr lang="en-US" altLang="zh-CN" sz="2400" dirty="0"/>
              <a:t>n_estimators / max_depth / min_samples_split</a:t>
            </a:r>
            <a:endParaRPr lang="en-US" altLang="zh-CN" sz="2800" b="1" dirty="0"/>
          </a:p>
          <a:p>
            <a:pPr lvl="1"/>
            <a:r>
              <a:rPr lang="en-US" altLang="zh-CN" sz="2800" b="1" dirty="0"/>
              <a:t>Best params: 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lvl="1"/>
            <a:endParaRPr lang="en-US" altLang="zh-CN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b="1" dirty="0"/>
              <a:t> Hyper-parameter Tuning</a:t>
            </a:r>
            <a:endParaRPr lang="en-US" altLang="zh-CN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665" y="3429000"/>
            <a:ext cx="11536680" cy="19932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38200" y="5650230"/>
            <a:ext cx="102819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Five-fold CV accuracies range from 85.9 % to 89.9 % with a mean of 87.4 % </a:t>
            </a:r>
            <a:r>
              <a:rPr lang="en-US" altLang="en-US"/>
              <a:t>±</a:t>
            </a:r>
            <a:r>
              <a:rPr lang="en-US" altLang="zh-CN"/>
              <a:t> 1.7 %. The low standard deviation confirms model stability across data splits.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7695" y="1391920"/>
            <a:ext cx="4919980" cy="49168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3200" b="1" dirty="0"/>
          </a:p>
          <a:p>
            <a:pPr algn="l">
              <a:buClrTx/>
              <a:buSzTx/>
            </a:pPr>
            <a:r>
              <a:rPr lang="en-US" altLang="zh-CN" sz="2800" b="1" dirty="0"/>
              <a:t> Train accuracy: </a:t>
            </a:r>
            <a:r>
              <a:rPr lang="en-US" altLang="zh-CN" sz="2400" dirty="0"/>
              <a:t>97.1% </a:t>
            </a:r>
            <a:endParaRPr lang="en-US" altLang="zh-CN" sz="2400" dirty="0"/>
          </a:p>
          <a:p>
            <a:pPr algn="l">
              <a:buClrTx/>
              <a:buSzTx/>
            </a:pPr>
            <a:endParaRPr lang="en-US" altLang="zh-CN" sz="2400" dirty="0"/>
          </a:p>
          <a:p>
            <a:pPr algn="l">
              <a:buClrTx/>
              <a:buSzTx/>
            </a:pPr>
            <a:r>
              <a:rPr lang="en-US" altLang="zh-CN" sz="2800" b="1" dirty="0"/>
              <a:t>for over-fit monitoring only</a:t>
            </a:r>
            <a:endParaRPr lang="en-US" altLang="zh-CN" sz="2800" b="1" dirty="0"/>
          </a:p>
          <a:p>
            <a:pPr algn="l">
              <a:buClrTx/>
              <a:buSzTx/>
            </a:pPr>
            <a:endParaRPr lang="en-US" altLang="zh-CN" sz="2400" dirty="0"/>
          </a:p>
          <a:p>
            <a:pPr algn="l">
              <a:buClrTx/>
              <a:buSzTx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b="1" dirty="0">
                <a:sym typeface="+mn-ea"/>
              </a:rPr>
              <a:t> </a:t>
            </a:r>
            <a:endParaRPr lang="en-US" altLang="zh-CN" b="1" dirty="0"/>
          </a:p>
          <a:p>
            <a:endParaRPr lang="en-US" altLang="zh-CN" sz="2800" b="1" dirty="0"/>
          </a:p>
          <a:p>
            <a:pPr marL="914400" lvl="2" indent="0">
              <a:buNone/>
            </a:pPr>
            <a:endParaRPr lang="en-US" altLang="zh-CN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sym typeface="+mn-ea"/>
              </a:rPr>
              <a:t>Train Set Result</a:t>
            </a:r>
            <a:endParaRPr lang="en-US" altLang="zh-CN" b="1" dirty="0"/>
          </a:p>
        </p:txBody>
      </p:sp>
      <p:pic>
        <p:nvPicPr>
          <p:cNvPr id="6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7765" y="562610"/>
            <a:ext cx="4665345" cy="4905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836285" cy="4113530"/>
          </a:xfrm>
        </p:spPr>
        <p:txBody>
          <a:bodyPr>
            <a:normAutofit lnSpcReduction="10000"/>
          </a:bodyPr>
          <a:lstStyle/>
          <a:p>
            <a:r>
              <a:rPr lang="en-US" altLang="zh-CN" sz="3200" b="1" dirty="0"/>
              <a:t>Test accuracy: 86 %</a:t>
            </a: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r>
              <a:rPr lang="en-US" altLang="zh-CN" sz="3200" b="1" dirty="0"/>
              <a:t> </a:t>
            </a:r>
            <a:r>
              <a:rPr lang="en-US" altLang="zh-CN" sz="3200" b="1" dirty="0">
                <a:sym typeface="+mn-ea"/>
              </a:rPr>
              <a:t>Overall F1-macro ≈ 0.87</a:t>
            </a: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pPr marL="457200" lvl="1" indent="0">
              <a:buNone/>
            </a:pPr>
            <a:r>
              <a:rPr lang="en-US" altLang="zh-CN" sz="3200" b="1" dirty="0"/>
              <a:t> </a:t>
            </a:r>
            <a:r>
              <a:rPr lang="en-US" altLang="zh-CN" sz="2800" b="1" dirty="0"/>
              <a:t> </a:t>
            </a:r>
            <a:endParaRPr lang="en-US" altLang="zh-CN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/>
              <a:t>Test Set Result</a:t>
            </a:r>
            <a:endParaRPr lang="en-US" altLang="zh-CN" b="1" dirty="0"/>
          </a:p>
        </p:txBody>
      </p:sp>
      <p:pic>
        <p:nvPicPr>
          <p:cNvPr id="5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3120" y="782955"/>
            <a:ext cx="5441315" cy="5481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7765" y="202565"/>
            <a:ext cx="6320790" cy="1325880"/>
          </a:xfrm>
        </p:spPr>
        <p:txBody>
          <a:bodyPr>
            <a:normAutofit/>
          </a:bodyPr>
          <a:lstStyle/>
          <a:p>
            <a:r>
              <a:rPr lang="en-US" altLang="zh-CN" b="1" dirty="0">
                <a:sym typeface="+mn-ea"/>
              </a:rPr>
              <a:t>Confusion matrix figure-</a:t>
            </a:r>
            <a:endParaRPr lang="en-US" altLang="zh-CN" dirty="0"/>
          </a:p>
        </p:txBody>
      </p:sp>
      <p:pic>
        <p:nvPicPr>
          <p:cNvPr id="4" name="图片 3" descr="F:/code/159333/159333-G7-Breast-Cancer-Subtype-Classification-mRMR/159333-G7-Breast-Cancer-Subtype-Classification-mRMR/confusion_matrix_train.pngconfusion_matrix_train"/>
          <p:cNvPicPr>
            <a:picLocks noChangeAspect="1"/>
          </p:cNvPicPr>
          <p:nvPr/>
        </p:nvPicPr>
        <p:blipFill>
          <a:blip r:embed="rId1"/>
          <a:srcRect t="2869" b="2869"/>
          <a:stretch>
            <a:fillRect/>
          </a:stretch>
        </p:blipFill>
        <p:spPr>
          <a:xfrm>
            <a:off x="1882140" y="1100455"/>
            <a:ext cx="7225665" cy="54489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7765" y="202565"/>
            <a:ext cx="6320790" cy="1325880"/>
          </a:xfrm>
        </p:spPr>
        <p:txBody>
          <a:bodyPr>
            <a:normAutofit/>
          </a:bodyPr>
          <a:lstStyle/>
          <a:p>
            <a:r>
              <a:rPr lang="en-US" altLang="zh-CN" b="1" dirty="0">
                <a:sym typeface="+mn-ea"/>
              </a:rPr>
              <a:t>Confusion matrix figure </a:t>
            </a:r>
            <a:endParaRPr lang="en-US" altLang="zh-CN" dirty="0"/>
          </a:p>
        </p:txBody>
      </p:sp>
      <p:pic>
        <p:nvPicPr>
          <p:cNvPr id="4" name="图片 3" descr="F:/code/159333/159333-G7-Breast-Cancer-Subtype-Classification-mRMR/159333-G7-Breast-Cancer-Subtype-Classification-mRMR/confusion_matrix_test.pngconfusion_matrix_test"/>
          <p:cNvPicPr>
            <a:picLocks noChangeAspect="1"/>
          </p:cNvPicPr>
          <p:nvPr/>
        </p:nvPicPr>
        <p:blipFill>
          <a:blip r:embed="rId1"/>
          <a:srcRect t="2869" b="2869"/>
          <a:stretch>
            <a:fillRect/>
          </a:stretch>
        </p:blipFill>
        <p:spPr>
          <a:xfrm>
            <a:off x="1882140" y="1100455"/>
            <a:ext cx="7225665" cy="5448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1154</Words>
  <Application>WPS 演示</Application>
  <PresentationFormat>宽屏</PresentationFormat>
  <Paragraphs>72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WPS</vt:lpstr>
      <vt:lpstr>Breast Cancer Subtype Classification Based On Gene Expression  – Weekly Progress</vt:lpstr>
      <vt:lpstr>Weekly Overview </vt:lpstr>
      <vt:lpstr>Data Overview </vt:lpstr>
      <vt:lpstr>Data Overview </vt:lpstr>
      <vt:lpstr>Random Forest Improvements</vt:lpstr>
      <vt:lpstr>XGBoost Setup</vt:lpstr>
      <vt:lpstr>Random Forest Results</vt:lpstr>
      <vt:lpstr>Confusion matrix figure </vt:lpstr>
      <vt:lpstr>Confusion matrix figure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Phenix梧烬</dc:creator>
  <cp:lastModifiedBy>只道寻常</cp:lastModifiedBy>
  <cp:revision>10</cp:revision>
  <dcterms:created xsi:type="dcterms:W3CDTF">2023-08-09T12:44:00Z</dcterms:created>
  <dcterms:modified xsi:type="dcterms:W3CDTF">2025-08-14T04:00:52Z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88C3A4952F2A4FEEA249958842595F90_13</vt:lpwstr>
  </property>
  <property fmtid="{D5CDD505-2E9C-101B-9397-08002B2CF9AE}" pid="3" name="KSOProductBuildVer">
    <vt:lpwstr>2052-12.1.0.21915</vt:lpwstr>
  </property>
</Properties>
</file>